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6–10</c:v>
                  </c:pt>
                  <c:pt idx="6">
                    <c:v>11–20</c:v>
                  </c:pt>
                  <c:pt idx="7">
                    <c:v>21–50</c:v>
                  </c:pt>
                  <c:pt idx="8">
                    <c:v>51+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4210</c:v>
                </c:pt>
                <c:pt idx="1">
                  <c:v>2980</c:v>
                </c:pt>
                <c:pt idx="2">
                  <c:v>1740</c:v>
                </c:pt>
                <c:pt idx="3">
                  <c:v>1020</c:v>
                </c:pt>
                <c:pt idx="4">
                  <c:v>630</c:v>
                </c:pt>
                <c:pt idx="5">
                  <c:v>1100</c:v>
                </c:pt>
                <c:pt idx="6">
                  <c:v>420</c:v>
                </c:pt>
                <c:pt idx="7">
                  <c:v>180</c:v>
                </c:pt>
                <c:pt idx="8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Faces per image (binned)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Image count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From Scratch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mAP@0.5</c:v>
                  </c:pt>
                  <c:pt idx="3">
                    <c:v>mAP@0.5:0.95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0.7227</c:v>
                </c:pt>
                <c:pt idx="1">
                  <c:v>0.4025</c:v>
                </c:pt>
                <c:pt idx="2">
                  <c:v>0.4547</c:v>
                </c:pt>
                <c:pt idx="3">
                  <c:v>0.2231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Transfer Learning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mAP@0.5</c:v>
                  </c:pt>
                  <c:pt idx="3">
                    <c:v>mAP@0.5:0.95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0.792</c:v>
                </c:pt>
                <c:pt idx="1">
                  <c:v>0.492</c:v>
                </c:pt>
                <c:pt idx="2">
                  <c:v>0.5532</c:v>
                </c:pt>
                <c:pt idx="3">
                  <c:v>0.285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mAP@0.5</c:v>
                  </c:pt>
                  <c:pt idx="3">
                    <c:v>mAP@0.5:0.95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0.801</c:v>
                </c:pt>
                <c:pt idx="1">
                  <c:v>0.5284</c:v>
                </c:pt>
                <c:pt idx="2">
                  <c:v>0.5899</c:v>
                </c:pt>
                <c:pt idx="3">
                  <c:v>0.3055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7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743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CFFAF4"/>
                </a:solidFill>
              </a:rPr>
              <a:t>DEEP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" y="54864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CFFAF4"/>
                </a:solidFill>
              </a:rPr>
              <a:t>FINAL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658368" cy="658368"/>
          </a:xfrm>
          <a:prstGeom prst="ellipse">
            <a:avLst/>
          </a:prstGeom>
          <a:solidFill>
            <a:srgbClr val="0A7A70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7592" y="960120"/>
            <a:ext cx="658368" cy="658368"/>
          </a:xfrm>
          <a:prstGeom prst="ellipse">
            <a:avLst/>
          </a:prstGeom>
          <a:solidFill>
            <a:srgbClr val="0A7A70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67712" y="960120"/>
            <a:ext cx="658368" cy="658368"/>
          </a:xfrm>
          <a:prstGeom prst="ellipse">
            <a:avLst/>
          </a:prstGeom>
          <a:solidFill>
            <a:srgbClr val="0A7A70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920240"/>
            <a:ext cx="658368" cy="658368"/>
          </a:xfrm>
          <a:prstGeom prst="ellipse">
            <a:avLst/>
          </a:prstGeom>
          <a:solidFill>
            <a:srgbClr val="0A7A70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7592" y="19202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7712" y="1920240"/>
            <a:ext cx="658368" cy="658368"/>
          </a:xfrm>
          <a:prstGeom prst="ellipse">
            <a:avLst/>
          </a:prstGeom>
          <a:solidFill>
            <a:srgbClr val="0A7A70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880360"/>
            <a:ext cx="658368" cy="658368"/>
          </a:xfrm>
          <a:prstGeom prst="ellipse">
            <a:avLst/>
          </a:prstGeom>
          <a:solidFill>
            <a:srgbClr val="0A7A70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2880360"/>
            <a:ext cx="658368" cy="658368"/>
          </a:xfrm>
          <a:prstGeom prst="ellipse">
            <a:avLst/>
          </a:prstGeom>
          <a:solidFill>
            <a:srgbClr val="0A7A70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7712" y="2880360"/>
            <a:ext cx="658368" cy="658368"/>
          </a:xfrm>
          <a:prstGeom prst="ellipse">
            <a:avLst/>
          </a:prstGeom>
          <a:solidFill>
            <a:srgbClr val="0A7A70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37947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😊 × 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8229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Face Object Detection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749040" y="15727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</a:rPr>
              <a:t>WIDER FACE Dataset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49040" y="2212848"/>
            <a:ext cx="5120640" cy="27432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395728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39572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8"/>
                </a:solidFill>
              </a:rPr>
              <a:t>32,203 images  ·  393,703 face bounding boxes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2898648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8986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8"/>
                </a:solidFill>
              </a:rPr>
              <a:t>61 real-world event categories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0" y="3401568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34015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8"/>
                </a:solidFill>
              </a:rPr>
              <a:t>3 training strategies compared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3904488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39044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8"/>
                </a:solidFill>
              </a:rPr>
              <a:t>YOLOv8n architecture  ·  Streamlit deployment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0" y="45262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Google Colab  ·  T4 GPU  ·  PyTorch  ·  Ultralytics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Presentation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1247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807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Why face detection is hard; WIDER FACE challenge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Dataset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3408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32,203 images, 393,703 boxes, 61 event categories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0449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Exploratory Data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009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BBox stats, long-tail distribution, sample images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3192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40050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Three Training Strategies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2611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From Scratch · Transfer Learning · Fine-Tuning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05156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5156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03520" y="11247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Results &amp; Comparison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13807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mAP@0.5, Precision, Recall — all three models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01168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01168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03520" y="20848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Streamlit Deployment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23408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Live inference app with model comparison tab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9718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7180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03520" y="30449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Conclusions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33009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Key findings, limitations,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is Face Detection Hard?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60520" cy="987552"/>
          </a:xfrm>
          <a:prstGeom prst="rect">
            <a:avLst/>
          </a:prstGeom>
          <a:solidFill>
            <a:srgbClr val="13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904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Extreme 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Faces range from 3 px crowd thumbnails to full-frame close-ups in the same image.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60520" cy="987552"/>
          </a:xfrm>
          <a:prstGeom prst="rect">
            <a:avLst/>
          </a:prstGeom>
          <a:solidFill>
            <a:srgbClr val="1320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17320"/>
            <a:ext cx="54864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4904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Occlusion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7647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Partially hidden faces behind objects, hands, hair, or other people.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87752"/>
            <a:ext cx="4160520" cy="987552"/>
          </a:xfrm>
          <a:prstGeom prst="rect">
            <a:avLst/>
          </a:prstGeom>
          <a:solidFill>
            <a:srgbClr val="1320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87752"/>
            <a:ext cx="54864" cy="9875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6609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Motion Blur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293522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Fast movement in sports and events creates blurry, hard-to-detect faces.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587752"/>
            <a:ext cx="4160520" cy="987552"/>
          </a:xfrm>
          <a:prstGeom prst="rect">
            <a:avLst/>
          </a:prstGeom>
          <a:solidFill>
            <a:srgbClr val="1320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587752"/>
            <a:ext cx="54864" cy="9875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6609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Lighting Variation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93522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Outdoor / indoor / night / flash — all in the same dataset.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58184"/>
            <a:ext cx="4160520" cy="987552"/>
          </a:xfrm>
          <a:prstGeom prst="rect">
            <a:avLst/>
          </a:prstGeom>
          <a:solidFill>
            <a:srgbClr val="13203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58184"/>
            <a:ext cx="54864" cy="9875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831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Label Noise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410565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Invalid and occluded faces intentionally kept — real-world annotations are never perfect.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58184"/>
            <a:ext cx="4160520" cy="987552"/>
          </a:xfrm>
          <a:prstGeom prst="rect">
            <a:avLst/>
          </a:prstGeom>
          <a:solidFill>
            <a:srgbClr val="13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758184"/>
            <a:ext cx="54864" cy="9875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831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Imbalance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410565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Some events have 1–3 faces; crowd scenes have hundreds per image.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6400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WIDER FACE Dataset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kaggle.com/datasets/mksaad/wider-face-a-face-detection-benchmark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32,203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Total Images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93976" y="1481328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85416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393,703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85416" y="2011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Face Annotations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76472" y="1481328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67912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</a:rPr>
              <a:t>61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67912" y="2011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Event Categories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58968" y="1481328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50408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~3 GB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50408" y="2011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Download Size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41464" y="1481328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32904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32904" y="2011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Difficulty Levels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2651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706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9626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12,880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4360" y="3310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images used for training all 3 models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633472"/>
            <a:ext cx="2651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0" y="2706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Val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29626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 3,226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74720" y="3310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validation set for mAP evaluation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633472"/>
            <a:ext cx="2651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55080" y="2706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29626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16,097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55080" y="3310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held-out test images (unannotated)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840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61 Event Categories include: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Parade · Wedding · Concert · Sports · News Interview · Ceremony · Demonstration · Festival · Press Conference · Cheering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41248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55"/>
                </a:solidFill>
              </a:rPr>
              <a:t>⚠  Not fully cleaned — blurry faces, occluded subjects, invalid labels and crowd annotations intentionally retained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6400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Exploratory Data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4650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Median bbox area: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0.042% of image — faces are extremely small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Faces per image: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877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Median = 3 · Maximum = 4,069 (crowd scene)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BBox width distribution: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278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Heavy right-skew: most faces narrow, few wide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Long-tail distribution: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679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Few crowd images dominate annotation count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306824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51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Difficulty split: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5079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Easy 59% · Medium 30% · Hard 11%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1261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Faces per Image Distribution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0" y="160020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4617720"/>
            <a:ext cx="841248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350F"/>
                </a:solidFill>
              </a:rPr>
              <a:t>Insight: Extremely small median bbox (&lt;1% of image area) means multi-scale FPN is essential — not optional.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17520" y="201168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Three Training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85800"/>
            <a:ext cx="2606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9888" y="84124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From Scratch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23317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Strategy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2340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Random init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yolov8n.yaml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06624"/>
            <a:ext cx="23317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761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" y="2962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1e-3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23317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383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Frozen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50208"/>
            <a:ext cx="23317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005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mAP@0.5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0.4547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4408" y="685800"/>
            <a:ext cx="2606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42816" y="84124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42816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01568" y="15727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Transfer Learning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1568" y="2084832"/>
            <a:ext cx="23317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Strategy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65576" y="2340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Freeze 10 layers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yolov8n.pt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2706624"/>
            <a:ext cx="23317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5576" y="2761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65576" y="2962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1e-3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01568" y="3328416"/>
            <a:ext cx="23317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65576" y="3383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Frozen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65576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10 layers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01568" y="3950208"/>
            <a:ext cx="23317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65576" y="4005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mAP@0.5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65576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0.5532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08192" y="685800"/>
            <a:ext cx="2606040" cy="4160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086600" y="84124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C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245352" y="15727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Fine-Tuning ⭐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45352" y="2084832"/>
            <a:ext cx="2331720" cy="530352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5F0"/>
                </a:solidFill>
              </a:rPr>
              <a:t>Strategy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2340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layers open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yolov8n.pt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45352" y="2706624"/>
            <a:ext cx="2331720" cy="530352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761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5F0"/>
                </a:solidFill>
              </a:rPr>
              <a:t>LR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2962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1e-4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45352" y="3328416"/>
            <a:ext cx="2331720" cy="530352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383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5F0"/>
                </a:solidFill>
              </a:rPr>
              <a:t>Frozen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45352" y="3950208"/>
            <a:ext cx="2331720" cy="530352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005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5F0"/>
                </a:solidFill>
              </a:rPr>
              <a:t>mAP@0.5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0.5899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1480" y="4846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Same architecture (YOLOv8n, 3.2M params) · Same dataset · Same epochs — only the training strategy changes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YOLOv8n — Model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1371600" cy="822960"/>
          </a:xfrm>
          <a:prstGeom prst="rect">
            <a:avLst/>
          </a:prstGeom>
          <a:solidFill>
            <a:srgbClr val="13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98448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640×640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19072" y="1709928"/>
            <a:ext cx="502920" cy="0"/>
          </a:xfrm>
          <a:prstGeom prst="line">
            <a:avLst/>
          </a:prstGeom>
          <a:noFill/>
          <a:ln w="19050">
            <a:solidFill>
              <a:srgbClr val="3A50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298448"/>
            <a:ext cx="1371600" cy="822960"/>
          </a:xfrm>
          <a:prstGeom prst="rect">
            <a:avLst/>
          </a:prstGeom>
          <a:solidFill>
            <a:srgbClr val="13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298448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CSPDarknet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Backbone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709928"/>
            <a:ext cx="502920" cy="0"/>
          </a:xfrm>
          <a:prstGeom prst="line">
            <a:avLst/>
          </a:prstGeom>
          <a:noFill/>
          <a:ln w="19050">
            <a:solidFill>
              <a:srgbClr val="3A50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298448"/>
            <a:ext cx="1371600" cy="822960"/>
          </a:xfrm>
          <a:prstGeom prst="rect">
            <a:avLst/>
          </a:prstGeom>
          <a:solidFill>
            <a:srgbClr val="1320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298448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FPN + PAN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1709928"/>
            <a:ext cx="502920" cy="0"/>
          </a:xfrm>
          <a:prstGeom prst="line">
            <a:avLst/>
          </a:prstGeom>
          <a:noFill/>
          <a:ln w="19050">
            <a:solidFill>
              <a:srgbClr val="3A50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28616" y="1298448"/>
            <a:ext cx="1371600" cy="822960"/>
          </a:xfrm>
          <a:prstGeom prst="rect">
            <a:avLst/>
          </a:prstGeom>
          <a:solidFill>
            <a:srgbClr val="1320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298448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Decoupled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0216" y="1709928"/>
            <a:ext cx="502920" cy="0"/>
          </a:xfrm>
          <a:prstGeom prst="line">
            <a:avLst/>
          </a:prstGeom>
          <a:noFill/>
          <a:ln w="19050">
            <a:solidFill>
              <a:srgbClr val="3A50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1298448"/>
            <a:ext cx="1371600" cy="822960"/>
          </a:xfrm>
          <a:prstGeom prst="rect">
            <a:avLst/>
          </a:prstGeom>
          <a:solidFill>
            <a:srgbClr val="1320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1298448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BBoxes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Parameter Breakdown by Training Strategy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16352"/>
            <a:ext cx="1920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1635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Strategy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77440" y="2816352"/>
            <a:ext cx="1463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81635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Params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2816352"/>
            <a:ext cx="11887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816352"/>
            <a:ext cx="1188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Frozen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0" y="2816352"/>
            <a:ext cx="13716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816352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Trainable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2816352"/>
            <a:ext cx="2834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81635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point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163824"/>
            <a:ext cx="192024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163824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From Scratch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77440" y="3163824"/>
            <a:ext cx="146304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163824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3,206,720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0" y="3163824"/>
            <a:ext cx="118872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3163824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3163824"/>
            <a:ext cx="137160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163824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3,206,720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0" y="3163824"/>
            <a:ext cx="283464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163824"/>
            <a:ext cx="2834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All initialized randomly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547872"/>
            <a:ext cx="1920240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47872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Transfer Learning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77440" y="3547872"/>
            <a:ext cx="1463040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0" y="3547872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2,264,832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40480" y="3547872"/>
            <a:ext cx="1188720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3547872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941,888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0" y="3547872"/>
            <a:ext cx="1371600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3547872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941,888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0" y="3547872"/>
            <a:ext cx="2834640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547872"/>
            <a:ext cx="2834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Backbone frozen — head only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3931920"/>
            <a:ext cx="192024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Fine-Tuning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377440" y="3931920"/>
            <a:ext cx="146304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77440" y="3931920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3,206,720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840480" y="3931920"/>
            <a:ext cx="118872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0" y="3931920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29200" y="3931920"/>
            <a:ext cx="137160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0" y="3931920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3,206,720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00800" y="3931920"/>
            <a:ext cx="283464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3931920"/>
            <a:ext cx="2834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</a:rPr>
              <a:t>All layers, low LR = 1e-4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526280"/>
            <a:ext cx="8412480" cy="384048"/>
          </a:xfrm>
          <a:prstGeom prst="rect">
            <a:avLst/>
          </a:prstGeom>
          <a:solidFill>
            <a:srgbClr val="13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Fine-Tuning augmentation: mosaic=1.0 · mixup=0.15 · HSV jitter · fliplr=0.5 · scale=0.5 · label_smoothing=0.05 · AMP enabled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6400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Model Comparison — Validation 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1945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2194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261872"/>
            <a:ext cx="12344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261872"/>
            <a:ext cx="12344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261872"/>
            <a:ext cx="10972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261872"/>
            <a:ext cx="109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261872"/>
            <a:ext cx="11430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61872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mAP@0.5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261872"/>
            <a:ext cx="14173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mAP@0.5:0.95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1261872"/>
            <a:ext cx="13258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261872"/>
            <a:ext cx="1325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(min)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1627632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627632"/>
            <a:ext cx="219456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YOLOv8n From Scratch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162763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1627632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0.7227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1627632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1627632"/>
            <a:ext cx="1097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0.4025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627632"/>
            <a:ext cx="1143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627632"/>
            <a:ext cx="11430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0.4547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62763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627632"/>
            <a:ext cx="14173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0.2231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0" y="1627632"/>
            <a:ext cx="1325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627632"/>
            <a:ext cx="13258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24.7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2066544"/>
            <a:ext cx="21945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066544"/>
            <a:ext cx="219456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YOLOv8n Transfer Learning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06040" y="2066544"/>
            <a:ext cx="12344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2066544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0.7920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40480" y="2066544"/>
            <a:ext cx="10972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2066544"/>
            <a:ext cx="1097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0.4920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2066544"/>
            <a:ext cx="11430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066544"/>
            <a:ext cx="11430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0.5532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80760" y="2066544"/>
            <a:ext cx="14173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2066544"/>
            <a:ext cx="14173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0.2850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8080" y="2066544"/>
            <a:ext cx="13258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2066544"/>
            <a:ext cx="13258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90.1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2505456"/>
            <a:ext cx="219456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2505456"/>
            <a:ext cx="219456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55"/>
                </a:solidFill>
              </a:rPr>
              <a:t>YOLOv8n Fine-Tuned 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06040" y="2505456"/>
            <a:ext cx="123444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2505456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55"/>
                </a:solidFill>
              </a:rPr>
              <a:t>0.8010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40480" y="2505456"/>
            <a:ext cx="109728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2505456"/>
            <a:ext cx="1097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55"/>
                </a:solidFill>
              </a:rPr>
              <a:t>0.5284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37760" y="2505456"/>
            <a:ext cx="114300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2505456"/>
            <a:ext cx="11430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55"/>
                </a:solidFill>
              </a:rPr>
              <a:t>0.5899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80760" y="2505456"/>
            <a:ext cx="14173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2505456"/>
            <a:ext cx="14173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55"/>
                </a:solidFill>
              </a:rPr>
              <a:t>0.3055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98080" y="2505456"/>
            <a:ext cx="132588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0" y="2505456"/>
            <a:ext cx="13258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55"/>
                </a:solidFill>
              </a:rPr>
              <a:t>108.2</a:t>
            </a:r>
            <a:endParaRPr lang="en-US" sz="1100" dirty="0"/>
          </a:p>
        </p:txBody>
      </p:sp>
      <p:graphicFrame>
        <p:nvGraphicFramePr>
          <p:cNvPr id="54" name="Chart 0" descr=""/>
          <p:cNvGraphicFramePr/>
          <p:nvPr/>
        </p:nvGraphicFramePr>
        <p:xfrm>
          <a:off x="411480" y="3063240"/>
          <a:ext cx="85039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the Results Tell 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160520" cy="1508760"/>
          </a:xfrm>
          <a:prstGeom prst="rect">
            <a:avLst/>
          </a:prstGeom>
          <a:solidFill>
            <a:srgbClr val="1320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447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Transfer Learning matters enormously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Fine-Tuning (mAP 0.590) vs From Scratch (mAP 0.455) = +29.7% improvement. COCO pretraining gives the model knowledge of edges, textures, and face-like shapes before it sees any WIDER FACE image.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353312"/>
            <a:ext cx="4160520" cy="1508760"/>
          </a:xfrm>
          <a:prstGeom prst="rect">
            <a:avLst/>
          </a:prstGeom>
          <a:solidFill>
            <a:srgbClr val="13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353312"/>
            <a:ext cx="54864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4447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Fine-Tuning beats frozen backbone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8288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Fine-Tuning (0.590) vs Transfer Learning (0.553) = +6.7% gain. Unfreezing all layers allows domain adaptation — the backbone learns face-specific features, not just generic COCO representations.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4160520" cy="1508760"/>
          </a:xfrm>
          <a:prstGeom prst="rect">
            <a:avLst/>
          </a:prstGeom>
          <a:solidFill>
            <a:srgbClr val="1320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44952"/>
            <a:ext cx="54864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36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 stays high across all models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5204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All three models achieve Precision &gt; 0.72, meaning detections that fire are mostly correct. The main gap is in Recall (0.40 → 0.53), showing fine-tuning finds more true faces.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3044952"/>
            <a:ext cx="4160520" cy="1508760"/>
          </a:xfrm>
          <a:prstGeom prst="rect">
            <a:avLst/>
          </a:prstGeom>
          <a:solidFill>
            <a:srgbClr val="1320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044952"/>
            <a:ext cx="54864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136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From Scratch is not worthless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35204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0.455 mAP from scratch on a hard dataset (tiny faces, occlusion) is actually respectable — it validates the YOLOv8 architecture. It just needs more epochs and data to close the gap.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INFERENCE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6400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Sample Detections — Ground Truth Labels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97480" cy="1572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62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faces detected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9152" y="135331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135331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847088"/>
            <a:ext cx="24231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470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139696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Solo performer, side profile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98448"/>
            <a:ext cx="2697480" cy="1572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298448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362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 faces detected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39512" y="135331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35331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847088"/>
            <a:ext cx="24231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8470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Dance / Sport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139696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Group formation, uniform scale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298448"/>
            <a:ext cx="2697480" cy="1572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298448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362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 faces detected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19872" y="135331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9872" y="135331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1847088"/>
            <a:ext cx="24231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8470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Interview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2139696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3 faces, variable distance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108960"/>
            <a:ext cx="2697480" cy="1572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108960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172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faces detected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359152" y="316382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316382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" y="3657600"/>
            <a:ext cx="24231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657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Ceremony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3950208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Historical / B&amp;W image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37560" y="3108960"/>
            <a:ext cx="2697480" cy="1572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3108960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9000" y="3172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 faces detected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39512" y="316382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9512" y="316382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0" y="3657600"/>
            <a:ext cx="24231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3657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Sports (NFL)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74720" y="3950208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Helmets + faces, heavy occlusion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3108960"/>
            <a:ext cx="2697480" cy="1572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3108960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172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faces detected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19872" y="316382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19872" y="316382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55080" y="3657600"/>
            <a:ext cx="24231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3657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Family group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55080" y="3950208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Vintage photo, poor resolution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Red bounding boxes = ground truth WIDER FACE annotations · Images from actual validation set (Image 1 screenshot)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Streamlit Deployment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App Features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556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Upload &amp; Detect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Drag-and-drop any JPG/PNG/WEBP image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86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 Slider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Adjustable threshold from 0.05 to 0.95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54864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163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IoU / NMS Control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3017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Fine-tune non-max suppression live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54864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3467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 Table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5478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Per-face score, coordinates, W×H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54864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8770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Comparison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40782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Metrics table + mAP bar chart tab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54864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4074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Download Result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4608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Save annotated image as JPEG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261872"/>
            <a:ext cx="4114800" cy="3657600"/>
          </a:xfrm>
          <a:prstGeom prst="rect">
            <a:avLst/>
          </a:prstGeom>
          <a:solidFill>
            <a:srgbClr val="0F1A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261872"/>
            <a:ext cx="4114800" cy="41148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307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 Detection — WIDER FACE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1755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Detect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1755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Comparison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17556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About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1993392"/>
            <a:ext cx="8229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103120"/>
            <a:ext cx="3840480" cy="804672"/>
          </a:xfrm>
          <a:prstGeom prst="rect">
            <a:avLst/>
          </a:prstGeom>
          <a:solidFill>
            <a:srgbClr val="1A2D42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</a:rPr>
              <a:t>📂 Upload image (JPG, PNG, WEBP)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999232"/>
            <a:ext cx="914400" cy="65836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035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12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Faces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33872" y="2999232"/>
            <a:ext cx="914400" cy="65836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3872" y="3035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48 ms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33872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Latency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21424" y="2999232"/>
            <a:ext cx="914400" cy="65836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21424" y="3035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20.8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21424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FPS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808976" y="2999232"/>
            <a:ext cx="914400" cy="658368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08976" y="3035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74%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08976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Avg conf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46320" y="3749040"/>
            <a:ext cx="1828800" cy="960120"/>
          </a:xfrm>
          <a:prstGeom prst="rect">
            <a:avLst/>
          </a:prstGeom>
          <a:solidFill>
            <a:srgbClr val="1320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767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Original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66560" y="3749040"/>
            <a:ext cx="1920240" cy="960120"/>
          </a:xfrm>
          <a:prstGeom prst="rect">
            <a:avLst/>
          </a:prstGeom>
          <a:solidFill>
            <a:srgbClr val="13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37673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Detections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share.streamlit.io  →  connect GitHub repo  →  set main file to app.py  →  Deploy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PIPELINE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6400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End-to-End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078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129844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Download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Kaggle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~3 GB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90472" y="1719072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36776" y="1261872"/>
            <a:ext cx="1078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129844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36776" y="18013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Parse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36776" y="1993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WIDER FACE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annotations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15768" y="1719072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62072" y="1261872"/>
            <a:ext cx="1078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72968" y="129844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62072" y="18013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Convert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62072" y="1993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WIDER→YOLO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bbox format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41064" y="1719072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87368" y="1261872"/>
            <a:ext cx="1078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98264" y="12984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9826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87368" y="18013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87368" y="1993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Stats, plots,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samples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66360" y="1719072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12664" y="1261872"/>
            <a:ext cx="1078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23560" y="129844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12664" y="18013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Train ×3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12664" y="1993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Scratch / TL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Finetune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91656" y="1719072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1261872"/>
            <a:ext cx="1078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48856" y="129844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885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37960" y="18013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Evaluate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37960" y="1993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mAP, Precision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Recall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16952" y="1719072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63256" y="1261872"/>
            <a:ext cx="1078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074152" y="129844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7415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763256" y="18013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Deploy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63256" y="1993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Streamlit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+ ngrok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" y="2487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285292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2852928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" y="2852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PyTorch 2.1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606040" y="285292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06040" y="285292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34056" y="2852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Ultralytics YOLOv8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54880" y="285292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2852928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82896" y="2852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Google Colab T4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903720" y="285292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03720" y="2852928"/>
            <a:ext cx="54864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1736" y="2852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OpenCV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3328416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3328416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5216" y="3328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Streamlit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606040" y="3328416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06040" y="3328416"/>
            <a:ext cx="54864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34056" y="3328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Plotly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754880" y="3328416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0" y="3328416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82896" y="3328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Kaggle API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57200" y="3840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Notebook Structure (10 Steps — run top-to-bottom in Colab)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7200" y="4114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1 Install &amp; Imports  →  2 Kaggle Download  →  3 WIDER→YOLO Conversion  →  4 EDA  →  5 Scratch  →  6 Transfer TL  →  7 Fine-Tune  →  8 Eval  →  9 Streamlit  →  10 Export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 &amp;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What We Learned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73736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</a:rPr>
              <a:t>Transfer learning is not optional for hard datasets — it adds +30% mAP over random init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14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2322576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</a:rPr>
              <a:t>Fine-tuning all layers at low LR consistently outperforms frozen-backbone transfer learning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2907792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</a:rPr>
              <a:t>EDA directly informs modeling choices — small bbox median justified FPN multi-scale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349300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</a:rPr>
              <a:t>WIDER FACE's built-in noise makes the model more robust than clean synthetic datasets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407822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</a:rPr>
              <a:t>YOLOv8n (3.2M params) achieves real-time face detection on CPU at ~20 FPS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173736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7556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YOLOv8m / YOLOv8l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1993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Larger model variants for higher mAP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322576"/>
            <a:ext cx="54864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340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ONNX → TensorRT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GPU-optimized inference for production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907792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926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Multi-class extension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3163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Add Age / Gender / Emotion labels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493008"/>
            <a:ext cx="54864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511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DETR Transformer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3749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Attention-based detector comparison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078224"/>
            <a:ext cx="54864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4096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 Cloud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43342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FC8"/>
                </a:solidFill>
              </a:rPr>
              <a:t>Public URL, no Colab session needed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model: YOLOv8n Fine-Tuned  ·  mAP@0.5 = 0.5899  ·  Precision = 0.8010  ·  Recall = 0.5284  ·  108 min training on T4 GPU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Deep Learning Course — Final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70048"/>
            <a:ext cx="8321040" cy="36576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Dataset: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28346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</a:rPr>
              <a:t>kaggle.com/datasets/mksaad/wider-face-a-face-detection-benchmark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Live App: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32735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</a:rPr>
              <a:t>YOUR-APP.streamlit.app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7124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GitHub: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37124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</a:rPr>
              <a:t>github.com/YOUR_USERNAME/wider-face-detection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513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Paper: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41513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</a:rPr>
              <a:t>WIDER FACE — Yang et al., CVPR 2016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4617720"/>
            <a:ext cx="1920240" cy="960120"/>
          </a:xfrm>
          <a:prstGeom prst="rect">
            <a:avLst/>
          </a:prstGeom>
          <a:solidFill>
            <a:srgbClr val="13203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6908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0.5899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" y="51480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mAP@0.5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4617720"/>
            <a:ext cx="1920240" cy="960120"/>
          </a:xfrm>
          <a:prstGeom prst="rect">
            <a:avLst/>
          </a:prstGeom>
          <a:solidFill>
            <a:srgbClr val="13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46908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0.8010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651760" y="51480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Precision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90288" y="4617720"/>
            <a:ext cx="1920240" cy="960120"/>
          </a:xfrm>
          <a:prstGeom prst="rect">
            <a:avLst/>
          </a:prstGeom>
          <a:solidFill>
            <a:srgbClr val="13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46908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0.5284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81728" y="51480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Recall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0256" y="4617720"/>
            <a:ext cx="1920240" cy="960120"/>
          </a:xfrm>
          <a:prstGeom prst="rect">
            <a:avLst/>
          </a:prstGeom>
          <a:solidFill>
            <a:srgbClr val="13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46908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3.2M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11696" y="51480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8"/>
                </a:solidFill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WIDER FACE Object Detection — Deep Learning Final Project</dc:title>
  <dc:subject>PptxGenJS Presentation</dc:subject>
  <dc:creator>Deep Learning Course</dc:creator>
  <cp:lastModifiedBy>Deep Learning Course</cp:lastModifiedBy>
  <cp:revision>1</cp:revision>
  <dcterms:created xsi:type="dcterms:W3CDTF">2026-06-02T18:35:57Z</dcterms:created>
  <dcterms:modified xsi:type="dcterms:W3CDTF">2026-06-02T18:35:57Z</dcterms:modified>
</cp:coreProperties>
</file>